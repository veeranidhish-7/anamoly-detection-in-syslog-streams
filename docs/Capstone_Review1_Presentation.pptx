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408" y="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843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9015984" y="5486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9253728" y="5486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491472" y="5486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729216" y="5486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5486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78638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015984" y="78638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9253728" y="78638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9491472" y="78638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9729216" y="78638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9966960" y="78638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0" y="102412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9015984" y="102412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9253728" y="102412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9491472" y="102412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9729216" y="102412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6960" y="102412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1261872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9015984" y="1261872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9253728" y="1261872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9491472" y="1261872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9729216" y="1261872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9966960" y="1261872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REVIEW 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17830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 in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Syslog Streams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Evaluation of Linear and Deep Learning Architectures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22960" y="4069080"/>
            <a:ext cx="45720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6177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Dhanush Kakarlamudi   (23BCE8172)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Veera Nidhish Gondimalla   (23BCE7421)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Settipalli Raja Rushi Praneeth Reddy   (23BCE7425)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Evvala Venkata Lakshmi Narasimha Veereswar   (23BCE7439)</a:t>
            </a:r>
            <a:endParaRPr lang="en-US" sz="130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93666508-1F5F-7218-4FC9-52537E51E9CB}"/>
              </a:ext>
            </a:extLst>
          </p:cNvPr>
          <p:cNvSpPr txBox="1"/>
          <p:nvPr/>
        </p:nvSpPr>
        <p:spPr>
          <a:xfrm>
            <a:off x="8577411" y="4615688"/>
            <a:ext cx="157310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Mohinder Singh B</a:t>
            </a:r>
            <a:endParaRPr lang="en-US" sz="1300" dirty="0"/>
          </a:p>
        </p:txBody>
      </p:sp>
      <p:sp>
        <p:nvSpPr>
          <p:cNvPr id="35" name="Shape 27">
            <a:extLst>
              <a:ext uri="{FF2B5EF4-FFF2-40B4-BE49-F238E27FC236}">
                <a16:creationId xmlns:a16="http://schemas.microsoft.com/office/drawing/2014/main" id="{B892EA0A-AD4C-09C3-448E-FB08052B159C}"/>
              </a:ext>
            </a:extLst>
          </p:cNvPr>
          <p:cNvSpPr/>
          <p:nvPr/>
        </p:nvSpPr>
        <p:spPr>
          <a:xfrm>
            <a:off x="9509760" y="4180501"/>
            <a:ext cx="45720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72254F6D-4678-D63E-4CE5-D43C0F1B80AE}"/>
              </a:ext>
            </a:extLst>
          </p:cNvPr>
          <p:cNvSpPr txBox="1"/>
          <p:nvPr/>
        </p:nvSpPr>
        <p:spPr>
          <a:xfrm>
            <a:off x="9509760" y="4454821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830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3055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detecting anomalies in system logs is hard — and where linear models break down.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08760" y="2715768"/>
            <a:ext cx="9052560" cy="10973"/>
          </a:xfrm>
          <a:prstGeom prst="rect">
            <a:avLst/>
          </a:prstGeom>
          <a:solidFill>
            <a:srgbClr val="DCE6E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971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9260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 Paper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27355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 IEEE ICSRS paper this project replicates: lightweight, count-based anomaly detection.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08760" y="3858768"/>
            <a:ext cx="9052560" cy="10973"/>
          </a:xfrm>
          <a:prstGeom prst="rect">
            <a:avLst/>
          </a:prstGeom>
          <a:solidFill>
            <a:srgbClr val="DCE6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114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0690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Replication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41655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reproduced the paper's linear models (PCA, RPCA) and tested their limits.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508760" y="5001768"/>
            <a:ext cx="9052560" cy="10973"/>
          </a:xfrm>
          <a:prstGeom prst="rect">
            <a:avLst/>
          </a:prstGeom>
          <a:solidFill>
            <a:srgbClr val="DCE6E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5257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257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2120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Architecture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55955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shift from frequency counts to semantic sequence modeling with deep learning.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Logs Are the Pulse of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Distributed System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large-scale system — from a distributed file system to a supercomputer — continuously emits logs that record its health, security, and operational status. Detecting anomalies in this stream early is critical, but three properties make it genuinely hard: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735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11810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 </a:t>
            </a: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log lines generated per system, per day.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68503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text  </a:t>
            </a: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messages carry no fixed schema or labels.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0740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2519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Interleaving  </a:t>
            </a: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processes across many nodes overlap in time.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60920" y="1371600"/>
            <a:ext cx="4297680" cy="4754880"/>
          </a:xfrm>
          <a:prstGeom prst="roundRect">
            <a:avLst>
              <a:gd name="adj" fmla="val 2553"/>
            </a:avLst>
          </a:prstGeom>
          <a:solidFill>
            <a:srgbClr val="21295C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6809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 STREAM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2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08:12:03  INFO  node07  BLK_alloc ok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624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2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08:12:04  INFO  node12  heartbeat ok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099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2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08:12:04  INFO  node03  BLK_write ok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3575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2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08:12:05  WARN  node07  retry(1) I/O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4050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2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08:12:05  INFO  node21  heartbeat ok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89520" y="4480560"/>
            <a:ext cx="3840480" cy="329184"/>
          </a:xfrm>
          <a:prstGeom prst="roundRect">
            <a:avLst>
              <a:gd name="adj" fmla="val 13889"/>
            </a:avLst>
          </a:prstGeom>
          <a:solidFill>
            <a:srgbClr val="5B1F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80960" y="4526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08:12:06  ERROR node07  BLK_lost — ANOMALY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5001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2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08:12:06  INFO  node09  BLK_alloc ok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54772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2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08:12:07  INFO  node12  heartbeat ok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Frequency-Based Models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Down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detectors represent logs as simple event-count matrices (e.g. TF-IDF) and apply linear projection to find a “normal” subspace. This works only when the data geometry is simple — and collapses when it isn't.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1206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6B7A8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8986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8986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HDFS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55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Logs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130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regular, low-rank event patterns.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48056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cleanly separate into a simple, near-planar structure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86460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78992" y="4727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frequency counts are enough to isolate anomalies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606040"/>
            <a:ext cx="51206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6B7A8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89864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28986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BGL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355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Interleaved Logs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8130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concurrent processes, high-variance structure.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4480560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56832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low-rank structure exists across nodes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4864608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56832" y="4727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counts alone cannot separate normal vs. anomalous behavior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943600"/>
            <a:ext cx="10698480" cy="530352"/>
          </a:xfrm>
          <a:prstGeom prst="roundRect">
            <a:avLst>
              <a:gd name="adj" fmla="val 13793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943600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problem statement: bridge this gap by moving from frequency counting to deep semantic sequence modeling.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PAPER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Foundation We Built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1A214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“Lightweight Optimization based Log-file Anomaly Detection”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Fält et al.  —  2025 IEEE ICSRS (International Conference on Systems, Reliability, Sustainability)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replicated for this project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F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paper proposed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1148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413308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— projects normal log behaviour onto a low-rank linear subspace.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3659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365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47548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PCA — separates a low-rank “normal” matrix from a sparse “anomalous” component.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358384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3583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537667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flagged from reconstruction error against a fixed 95th-percentile threshold.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PAPER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 Pipeline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frequency-based, linear detection pipeline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1452" y="274320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25400" dir="5400000" algn="bl" rotWithShape="0">
              <a:srgbClr val="6B7A8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7544" y="248716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7544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2892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Log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2892" y="3794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system logs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5972" y="3511296"/>
            <a:ext cx="347472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2900020" y="274320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25400" dir="5400000" algn="bl" rotWithShape="0">
              <a:srgbClr val="6B7A8A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6112" y="248716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6112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91460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Count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991460" y="3794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/ frequency counts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74540" y="3511296"/>
            <a:ext cx="347472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5158588" y="274320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25400" dir="5400000" algn="bl" rotWithShape="0">
              <a:srgbClr val="6B7A8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94680" y="248716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9468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50028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250028" y="3794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/ RPCA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33108" y="3511296"/>
            <a:ext cx="347472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7417156" y="274320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25400" dir="5400000" algn="bl" rotWithShape="0">
              <a:srgbClr val="6B7A8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53248" y="248716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5324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08596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508596" y="3794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normal subspace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91676" y="3511296"/>
            <a:ext cx="347472" cy="201168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9" name="Shape 27"/>
          <p:cNvSpPr/>
          <p:nvPr/>
        </p:nvSpPr>
        <p:spPr>
          <a:xfrm>
            <a:off x="9675724" y="274320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5400000" algn="bl" rotWithShape="0">
              <a:srgbClr val="6B7A8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411816" y="248716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411816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767164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95th-pct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767164" y="3794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1452" y="4983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detected purely from event frequency — sequence order and semantic meaning are never used.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Replicating the Baseline,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by Dataset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objective: exactly reproduce the paper's PCA / RPCA models on the same class of structured logs, then stress-test the same approach on a far more complex, real-world dataset.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6B7A8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9718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~11.1 million log lines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838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HDFS_v1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959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 Distributed File System logs, grouped by block_id.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66344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4526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high-volume, machine-generated logs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508406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78992" y="49469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paper's original evaluation setting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69748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6B7A8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9718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2971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~4.7 million log lines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4838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BGL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9959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Gene/L supercomputer logs — real-world &amp; interleaved.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4663440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56832" y="4526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nodes logging concurrently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508406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56832" y="49469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test generalizability beyond HDFS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REPLICATION — HDFS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the Paper on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Logs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equations describe plain TF-IDF counts, but that alone never converged to their numbers. We found the missing step: an undocumented L2-normalization that maps every normal sequence tightly onto a rank-2 plane on a unit sphere.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630936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70332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L2-normalized raw counts — not TF-IDF as written — reproduce the paper's geometry.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691640"/>
            <a:ext cx="43434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25400" dir="5400000" algn="bl" rotWithShape="0">
              <a:srgbClr val="6B7A8A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54380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95560" y="18745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F8A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9556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22860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94.65%</a:t>
            </a:r>
            <a:r>
              <a:rPr lang="en-US" sz="1100" dirty="0">
                <a:solidFill>
                  <a:srgbClr val="5C6B78"/>
                </a:solidFill>
              </a:rPr>
              <a:t>  our result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28346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94.64%</a:t>
            </a:r>
            <a:r>
              <a:rPr lang="en-US" sz="1100" dirty="0">
                <a:solidFill>
                  <a:srgbClr val="5C6B78"/>
                </a:solidFill>
              </a:rPr>
              <a:t>  paper's reported F1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69480" y="3794760"/>
            <a:ext cx="43434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25400" dir="5400000" algn="bl" rotWithShape="0">
              <a:srgbClr val="6B7A8A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43800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RPCA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95560" y="39776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B04A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195560" y="3977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FOUND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43891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87.16%</a:t>
            </a:r>
            <a:r>
              <a:rPr lang="en-US" sz="1100" dirty="0">
                <a:solidFill>
                  <a:srgbClr val="5C6B78"/>
                </a:solidFill>
              </a:rPr>
              <a:t>  our result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49377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90.55%</a:t>
            </a:r>
            <a:r>
              <a:rPr lang="en-US" sz="1100" dirty="0">
                <a:solidFill>
                  <a:srgbClr val="5C6B78"/>
                </a:solidFill>
              </a:rPr>
              <a:t>  paper's reported F1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5806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F1-scores on HDFS_v1, evaluated under the paper's protocol.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REPLICATION — BGL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Stress-Testing the Baseline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Complex Logs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applied the same replicated PCA pipeline to the BGL dataset to test whether the paper's approach generalizes beyond clean, structured logs.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392680" y="26720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A2148"/>
          </a:solidFill>
          <a:ln w="15875">
            <a:solidFill>
              <a:srgbClr val="FF9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92680" y="285496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9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30.18%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2621280" y="381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F1-score on BGL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21280" y="41991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evaluation protocol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6000" y="267208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1A2148"/>
          </a:solidFill>
          <a:ln w="15875">
            <a:solidFill>
              <a:srgbClr val="FFD3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96000" y="285496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D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~65%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6324600" y="3815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ceiling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24600" y="41991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possible F1, even with an oracle threshold sweep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3492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frequency-count linear models are fundamentally dataset-dependent — they collapse on highly interleaved, high-rank logs like BGL.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Counts to Context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overcome the linear ceiling exposed on BGL, we propose replacing frequency counts with semantic, structurally-grouped sequences — detected using a non-linear deep learning model.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0868" y="228600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6B7A8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5188" y="2560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15188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15188" y="33375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Node-Based Structural Grouping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15188" y="41605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logs by originating Node ID and a sliding time window, aligning sequences to real physical execution paths instead of arbitrary time slices.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5628" y="228600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6B7A8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9948" y="25603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09948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09948" y="33375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Sequence Embeddings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609948" y="41605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each log sequence as a dense Word2Vec vector, preserving event order and contextual meaning — not just frequency.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0388" y="228600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27000" dist="38100" dir="5400000" algn="bl" rotWithShape="0">
              <a:srgbClr val="6B7A8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04708" y="256032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04708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04708" y="33375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Autoencoder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8404708" y="41605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linear PCA/RPCA detector with a Multi-Layer Perceptron Autoencoder built to reconstruct the non-linear semantic vector space.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Pipeline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Semantic, structure-aware detection with a non-linear model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1452" y="274320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blurRad="101600" dist="25400" dir="5400000" algn="bl" rotWithShape="0">
              <a:srgbClr val="6B7A8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7544" y="248716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7544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2892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Log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2892" y="3794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system logs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5972" y="3511296"/>
            <a:ext cx="347472" cy="201168"/>
          </a:xfrm>
          <a:prstGeom prst="rightArrow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2900020" y="274320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0B3550"/>
          </a:solidFill>
          <a:ln w="12700">
            <a:solidFill>
              <a:srgbClr val="0B3550"/>
            </a:solidFill>
            <a:prstDash val="solid"/>
          </a:ln>
          <a:effectLst>
            <a:outerShdw blurRad="101600" dist="25400" dir="5400000" algn="bl" rotWithShape="0">
              <a:srgbClr val="6B7A8A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6112" y="248716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6112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91460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Node-Based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Grouping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991460" y="3794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sequences by Node 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74540" y="3511296"/>
            <a:ext cx="347472" cy="201168"/>
          </a:xfrm>
          <a:prstGeom prst="rightArrow">
            <a:avLst/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5158588" y="274320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0B3550"/>
          </a:solidFill>
          <a:ln w="12700">
            <a:solidFill>
              <a:srgbClr val="0B3550"/>
            </a:solidFill>
            <a:prstDash val="solid"/>
          </a:ln>
          <a:effectLst>
            <a:outerShdw blurRad="101600" dist="25400" dir="5400000" algn="bl" rotWithShape="0">
              <a:srgbClr val="6B7A8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94680" y="248716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9468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50028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Word2Vec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250028" y="3794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semantic sequence vectors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33108" y="3511296"/>
            <a:ext cx="347472" cy="201168"/>
          </a:xfrm>
          <a:prstGeom prst="rightArrow">
            <a:avLst/>
          </a:prstGeom>
          <a:solidFill>
            <a:srgbClr val="065A82"/>
          </a:solidFill>
          <a:ln/>
        </p:spPr>
      </p:sp>
      <p:sp>
        <p:nvSpPr>
          <p:cNvPr id="23" name="Shape 21"/>
          <p:cNvSpPr/>
          <p:nvPr/>
        </p:nvSpPr>
        <p:spPr>
          <a:xfrm>
            <a:off x="7417156" y="274320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0B3550"/>
          </a:solidFill>
          <a:ln w="12700">
            <a:solidFill>
              <a:srgbClr val="0B3550"/>
            </a:solidFill>
            <a:prstDash val="solid"/>
          </a:ln>
          <a:effectLst>
            <a:outerShdw blurRad="101600" dist="25400" dir="5400000" algn="bl" rotWithShape="0">
              <a:srgbClr val="6B7A8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53248" y="248716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5324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08596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Autoencoder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508596" y="3794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reconstruction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91676" y="3511296"/>
            <a:ext cx="347472" cy="201168"/>
          </a:xfrm>
          <a:prstGeom prst="rightArrow">
            <a:avLst/>
          </a:prstGeom>
          <a:solidFill>
            <a:srgbClr val="065A82"/>
          </a:solidFill>
          <a:ln/>
        </p:spPr>
      </p:sp>
      <p:sp>
        <p:nvSpPr>
          <p:cNvPr id="29" name="Shape 27"/>
          <p:cNvSpPr/>
          <p:nvPr/>
        </p:nvSpPr>
        <p:spPr>
          <a:xfrm>
            <a:off x="9675724" y="2743200"/>
            <a:ext cx="187452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6B7A8A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411816" y="248716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411816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767164" y="3063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POT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767164" y="3794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flag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1452" y="4983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order and contextual meaning now drive detection — not just how often an event occurs.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1206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9015984" y="51206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9253728" y="51206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491472" y="51206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9729216" y="51206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51206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535838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9015984" y="535838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9253728" y="535838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9491472" y="535838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9729216" y="535838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9966960" y="535838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0" y="559612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9015984" y="559612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9253728" y="559612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9491472" y="559612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9729216" y="559612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6960" y="559612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5833872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9015984" y="5833872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9253728" y="5833872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9491472" y="5833872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9729216" y="5833872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9966960" y="5833872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2468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28" name="Shape 26"/>
          <p:cNvSpPr/>
          <p:nvPr/>
        </p:nvSpPr>
        <p:spPr>
          <a:xfrm>
            <a:off x="868680" y="4160520"/>
            <a:ext cx="45720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Syslog Streams  —  Capstone Review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1051</Words>
  <Application>Microsoft Office PowerPoint</Application>
  <PresentationFormat>Widescreen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Venkata Dhanush K</cp:lastModifiedBy>
  <cp:revision>8</cp:revision>
  <dcterms:created xsi:type="dcterms:W3CDTF">2026-08-26T19:41:24Z</dcterms:created>
  <dcterms:modified xsi:type="dcterms:W3CDTF">2026-08-28T06:07:09Z</dcterms:modified>
</cp:coreProperties>
</file>